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38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F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823960" y="0"/>
            <a:ext cx="3364992" cy="6858000"/>
          </a:xfrm>
          <a:prstGeom prst="rect">
            <a:avLst/>
          </a:prstGeom>
          <a:solidFill>
            <a:srgbClr val="2C6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646920" y="0"/>
            <a:ext cx="2542032" cy="6858000"/>
          </a:xfrm>
          <a:prstGeom prst="rect">
            <a:avLst/>
          </a:prstGeom>
          <a:solidFill>
            <a:srgbClr val="29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561320" y="0"/>
            <a:ext cx="1627632" cy="6858000"/>
          </a:xfrm>
          <a:prstGeom prst="rect">
            <a:avLst/>
          </a:prstGeom>
          <a:solidFill>
            <a:srgbClr val="DDA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7772400" cy="1325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400"/>
              </a:spcAft>
              <a:defRPr sz="3000" b="1" i="0">
                <a:solidFill>
                  <a:srgbClr val="FFFFFF"/>
                </a:solidFill>
                <a:latin typeface="Aptos"/>
              </a:defRPr>
            </a:pPr>
            <a:r>
              <a:t>SIGN LANGUAGE</a:t>
            </a:r>
          </a:p>
          <a:p>
            <a:pPr algn="l">
              <a:spcAft>
                <a:spcPts val="400"/>
              </a:spcAft>
              <a:defRPr sz="3000" b="1" i="0">
                <a:solidFill>
                  <a:srgbClr val="FFFFFF"/>
                </a:solidFill>
                <a:latin typeface="Aptos"/>
              </a:defRPr>
            </a:pPr>
            <a:r>
              <a:t>RECOGNITION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2697480"/>
            <a:ext cx="7498079" cy="4572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400"/>
              </a:spcAft>
              <a:defRPr sz="2100" b="1" i="0">
                <a:solidFill>
                  <a:srgbClr val="C0DCE5"/>
                </a:solidFill>
                <a:latin typeface="Aptos"/>
              </a:defRPr>
            </a:pPr>
            <a:r>
              <a:t>Using Temporal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749039"/>
            <a:ext cx="7132320" cy="82296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400"/>
              </a:spcAft>
              <a:defRPr sz="1500" b="0" i="0">
                <a:solidFill>
                  <a:srgbClr val="FFFFFF"/>
                </a:solidFill>
                <a:latin typeface="Aptos"/>
              </a:defRPr>
            </a:pPr>
            <a:r>
              <a:t>Auslan datasets • 95 sign classes</a:t>
            </a:r>
          </a:p>
          <a:p>
            <a:pPr algn="l">
              <a:spcAft>
                <a:spcPts val="400"/>
              </a:spcAft>
              <a:defRPr sz="1500" b="0" i="0">
                <a:solidFill>
                  <a:srgbClr val="FFFFFF"/>
                </a:solidFill>
                <a:latin typeface="Aptos"/>
              </a:defRPr>
            </a:pPr>
            <a:r>
              <a:t>Machine learning and neural networks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806440"/>
            <a:ext cx="7132320" cy="3200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DCE6F0"/>
                </a:solidFill>
                <a:latin typeface="Aptos"/>
              </a:defRPr>
            </a:pPr>
            <a:r>
              <a:t>Mini-Project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4572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400"/>
              </a:spcAft>
              <a:defRPr sz="2500" b="1" i="0">
                <a:solidFill>
                  <a:srgbClr val="192F4F"/>
                </a:solidFill>
                <a:latin typeface="Aptos"/>
              </a:defRPr>
            </a:pPr>
            <a:r>
              <a:t>Problem, Objectives &amp;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49808"/>
            <a:ext cx="1078992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400"/>
              </a:spcAft>
              <a:defRPr sz="1000" b="0" i="0">
                <a:solidFill>
                  <a:srgbClr val="5B6672"/>
                </a:solidFill>
                <a:latin typeface="Aptos"/>
              </a:defRPr>
            </a:pPr>
            <a:r>
              <a:t>Classifying recorded sign sequences into 95 sign classes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914400" cy="45720"/>
          </a:xfrm>
          <a:prstGeom prst="rect">
            <a:avLst/>
          </a:prstGeom>
          <a:solidFill>
            <a:srgbClr val="29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38560" y="6510528"/>
            <a:ext cx="320040" cy="1645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spcAft>
                <a:spcPts val="400"/>
              </a:spcAft>
              <a:defRPr sz="800" b="0" i="0">
                <a:solidFill>
                  <a:srgbClr val="5B667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429000" cy="1508760"/>
          </a:xfrm>
          <a:prstGeom prst="roundRect">
            <a:avLst/>
          </a:prstGeom>
          <a:solidFill>
            <a:srgbClr val="F0F5FA"/>
          </a:solidFill>
          <a:ln>
            <a:solidFill>
              <a:srgbClr val="DD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64008" cy="1508760"/>
          </a:xfrm>
          <a:prstGeom prst="rect">
            <a:avLst/>
          </a:prstGeom>
          <a:solidFill>
            <a:srgbClr val="29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527048"/>
            <a:ext cx="315468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192F4F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874519"/>
            <a:ext cx="3154680" cy="996695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232B34"/>
                </a:solidFill>
                <a:latin typeface="Aptos"/>
              </a:defRPr>
            </a:pPr>
            <a:r>
              <a:t>Predict a sign label from a pre-recorded movement/sensor feature sequence.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17320"/>
            <a:ext cx="3429000" cy="1508760"/>
          </a:xfrm>
          <a:prstGeom prst="roundRect">
            <a:avLst/>
          </a:prstGeom>
          <a:solidFill>
            <a:srgbClr val="F0F5FA"/>
          </a:solidFill>
          <a:ln>
            <a:solidFill>
              <a:srgbClr val="DD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417320"/>
            <a:ext cx="64008" cy="1508760"/>
          </a:xfrm>
          <a:prstGeom prst="rect">
            <a:avLst/>
          </a:prstGeom>
          <a:solidFill>
            <a:srgbClr val="2C6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53712" y="1527048"/>
            <a:ext cx="315468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192F4F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1874519"/>
            <a:ext cx="3154680" cy="996695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232B34"/>
                </a:solidFill>
                <a:latin typeface="Aptos"/>
              </a:defRPr>
            </a:pPr>
            <a:r>
              <a:t>Preprocess data, compare classifiers, explore temporal models, and demonstrate predictions.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417320"/>
            <a:ext cx="3429000" cy="1508760"/>
          </a:xfrm>
          <a:prstGeom prst="roundRect">
            <a:avLst/>
          </a:prstGeom>
          <a:solidFill>
            <a:srgbClr val="F0F5FA"/>
          </a:solidFill>
          <a:ln>
            <a:solidFill>
              <a:srgbClr val="DD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417320"/>
            <a:ext cx="64008" cy="1508760"/>
          </a:xfrm>
          <a:prstGeom prst="rect">
            <a:avLst/>
          </a:prstGeom>
          <a:solidFill>
            <a:srgbClr val="DDA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11312" y="1527048"/>
            <a:ext cx="315468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192F4F"/>
                </a:solidFill>
                <a:latin typeface="Aptos"/>
              </a:defRPr>
            </a:pPr>
            <a:r>
              <a:t>Demo 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1874519"/>
            <a:ext cx="3154680" cy="996695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232B34"/>
                </a:solidFill>
                <a:latin typeface="Aptos"/>
              </a:defRPr>
            </a:pPr>
            <a:r>
              <a:t>The current demo selects labelled test recordings; it is not live webcam recognition.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1051560" y="3337560"/>
          <a:ext cx="1005840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24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Dataset</a:t>
                      </a:r>
                    </a:p>
                  </a:txBody>
                  <a:tcPr marL="73152" marR="73152" marT="27432" marB="27432" anchor="ctr">
                    <a:solidFill>
                      <a:srgbClr val="192F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Recordings</a:t>
                      </a:r>
                    </a:p>
                  </a:txBody>
                  <a:tcPr marL="73152" marR="73152" marT="27432" marB="27432" anchor="ctr">
                    <a:solidFill>
                      <a:srgbClr val="192F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Features / time step</a:t>
                      </a:r>
                    </a:p>
                  </a:txBody>
                  <a:tcPr marL="73152" marR="73152" marT="27432" marB="27432" anchor="ctr">
                    <a:solidFill>
                      <a:srgbClr val="192F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Sequence length</a:t>
                      </a:r>
                    </a:p>
                  </a:txBody>
                  <a:tcPr marL="73152" marR="73152" marT="27432" marB="27432" anchor="ctr">
                    <a:solidFill>
                      <a:srgbClr val="192F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Train / Test</a:t>
                      </a:r>
                    </a:p>
                  </a:txBody>
                  <a:tcPr marL="73152" marR="73152" marT="27432" marB="27432" anchor="ctr">
                    <a:solidFill>
                      <a:srgbClr val="192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High-quality</a:t>
                      </a:r>
                    </a:p>
                  </a:txBody>
                  <a:tcPr marL="73152" marR="73152" marT="27432" marB="27432"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2,565</a:t>
                      </a:r>
                    </a:p>
                  </a:txBody>
                  <a:tcPr marL="73152" marR="73152" marT="27432" marB="27432"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22</a:t>
                      </a:r>
                    </a:p>
                  </a:txBody>
                  <a:tcPr marL="73152" marR="73152" marT="27432" marB="27432"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136</a:t>
                      </a:r>
                    </a:p>
                  </a:txBody>
                  <a:tcPr marL="73152" marR="73152" marT="27432" marB="27432"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2,052 / 513</a:t>
                      </a:r>
                    </a:p>
                  </a:txBody>
                  <a:tcPr marL="73152" marR="73152" marT="27432" marB="27432" anchor="ctr"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Low-quality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6,648 valid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100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5,318 / 1,330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868680" y="5074920"/>
            <a:ext cx="10424160" cy="7772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400"/>
              </a:spcAft>
              <a:defRPr sz="1500" b="0" i="0">
                <a:solidFill>
                  <a:srgbClr val="232B34"/>
                </a:solidFill>
                <a:latin typeface="Aptos"/>
              </a:defRPr>
            </a:pPr>
            <a:r>
              <a:t>Preprocessing: low-quality sequences resampled to 100 steps; one empty recording skipped. Stratified 80:20 recording-level split, seed 42; all 95 classes appear in both splits.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4572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400"/>
              </a:spcAft>
              <a:defRPr sz="2500" b="1" i="0">
                <a:solidFill>
                  <a:srgbClr val="192F4F"/>
                </a:solidFill>
                <a:latin typeface="Aptos"/>
              </a:defRPr>
            </a:pPr>
            <a:r>
              <a:t>Methodology &amp;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49808"/>
            <a:ext cx="1078992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400"/>
              </a:spcAft>
              <a:defRPr sz="1000" b="0" i="0">
                <a:solidFill>
                  <a:srgbClr val="5B6672"/>
                </a:solidFill>
                <a:latin typeface="Aptos"/>
              </a:defRPr>
            </a:pPr>
            <a:r>
              <a:t>From prepared features to held-out 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914400" cy="45720"/>
          </a:xfrm>
          <a:prstGeom prst="rect">
            <a:avLst/>
          </a:prstGeom>
          <a:solidFill>
            <a:srgbClr val="29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38560" y="6510528"/>
            <a:ext cx="320040" cy="1645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spcAft>
                <a:spcPts val="400"/>
              </a:spcAft>
              <a:defRPr sz="800" b="0" i="0">
                <a:solidFill>
                  <a:srgbClr val="5B6672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429000" cy="1463040"/>
          </a:xfrm>
          <a:prstGeom prst="roundRect">
            <a:avLst/>
          </a:prstGeom>
          <a:solidFill>
            <a:srgbClr val="F0F5FA"/>
          </a:solidFill>
          <a:ln>
            <a:solidFill>
              <a:srgbClr val="DD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64008" cy="1463040"/>
          </a:xfrm>
          <a:prstGeom prst="rect">
            <a:avLst/>
          </a:prstGeom>
          <a:solidFill>
            <a:srgbClr val="29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527048"/>
            <a:ext cx="315468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192F4F"/>
                </a:solidFill>
                <a:latin typeface="Aptos"/>
              </a:defRPr>
            </a:pPr>
            <a:r>
              <a:t>1. Prepare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874519"/>
            <a:ext cx="3154680" cy="95097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232B34"/>
                </a:solidFill>
                <a:latin typeface="Aptos"/>
              </a:defRPr>
            </a:pPr>
            <a:r>
              <a:t>Select features, resample sequences, normalize neural-network inputs, and save arrays.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17320"/>
            <a:ext cx="3429000" cy="1463040"/>
          </a:xfrm>
          <a:prstGeom prst="roundRect">
            <a:avLst/>
          </a:prstGeom>
          <a:solidFill>
            <a:srgbClr val="F0F5FA"/>
          </a:solidFill>
          <a:ln>
            <a:solidFill>
              <a:srgbClr val="DD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417320"/>
            <a:ext cx="64008" cy="1463040"/>
          </a:xfrm>
          <a:prstGeom prst="rect">
            <a:avLst/>
          </a:prstGeom>
          <a:solidFill>
            <a:srgbClr val="2C6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53712" y="1527048"/>
            <a:ext cx="315468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192F4F"/>
                </a:solidFill>
                <a:latin typeface="Aptos"/>
              </a:defRPr>
            </a:pPr>
            <a:r>
              <a:t>2. Train baselines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1874519"/>
            <a:ext cx="3154680" cy="95097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232B34"/>
                </a:solidFill>
                <a:latin typeface="Aptos"/>
              </a:defRPr>
            </a:pPr>
            <a:r>
              <a:t>Logistic Regression and RBF-kernel SVM on flattened sequences.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417320"/>
            <a:ext cx="3429000" cy="1463040"/>
          </a:xfrm>
          <a:prstGeom prst="roundRect">
            <a:avLst/>
          </a:prstGeom>
          <a:solidFill>
            <a:srgbClr val="F0F5FA"/>
          </a:solidFill>
          <a:ln>
            <a:solidFill>
              <a:srgbClr val="DD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417320"/>
            <a:ext cx="64008" cy="1463040"/>
          </a:xfrm>
          <a:prstGeom prst="rect">
            <a:avLst/>
          </a:prstGeom>
          <a:solidFill>
            <a:srgbClr val="DDA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11312" y="1527048"/>
            <a:ext cx="315468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192F4F"/>
                </a:solidFill>
                <a:latin typeface="Aptos"/>
              </a:defRPr>
            </a:pPr>
            <a:r>
              <a:t>3. Evaluate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1874519"/>
            <a:ext cx="3154680" cy="95097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232B34"/>
                </a:solidFill>
                <a:latin typeface="Aptos"/>
              </a:defRPr>
            </a:pPr>
            <a:r>
              <a:t>Use accuracy, macro precision/recall/F1 and an MLP confusion matrix.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337560"/>
            <a:ext cx="5212080" cy="1691640"/>
          </a:xfrm>
          <a:prstGeom prst="roundRect">
            <a:avLst/>
          </a:prstGeom>
          <a:solidFill>
            <a:srgbClr val="F0F5FA"/>
          </a:solidFill>
          <a:ln>
            <a:solidFill>
              <a:srgbClr val="DD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3337560"/>
            <a:ext cx="64008" cy="1691640"/>
          </a:xfrm>
          <a:prstGeom prst="rect">
            <a:avLst/>
          </a:prstGeom>
          <a:solidFill>
            <a:srgbClr val="29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6112" y="3447288"/>
            <a:ext cx="493776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192F4F"/>
                </a:solidFill>
                <a:latin typeface="Aptos"/>
              </a:defRPr>
            </a:pPr>
            <a:r>
              <a:t>MLP — best measured 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3794760"/>
            <a:ext cx="4937760" cy="117957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232B34"/>
                </a:solidFill>
                <a:latin typeface="Aptos"/>
              </a:defRPr>
            </a:pPr>
            <a:r>
              <a:t>2,992 flattened inputs → Dense 256 → Dense 128 → 95-class softmax, with dropout.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337560"/>
            <a:ext cx="5212080" cy="1691640"/>
          </a:xfrm>
          <a:prstGeom prst="roundRect">
            <a:avLst/>
          </a:prstGeom>
          <a:solidFill>
            <a:srgbClr val="F0F5FA"/>
          </a:solidFill>
          <a:ln>
            <a:solidFill>
              <a:srgbClr val="DD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17920" y="3337560"/>
            <a:ext cx="64008" cy="1691640"/>
          </a:xfrm>
          <a:prstGeom prst="rect">
            <a:avLst/>
          </a:prstGeom>
          <a:solidFill>
            <a:srgbClr val="B0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82512" y="3447288"/>
            <a:ext cx="493776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192F4F"/>
                </a:solidFill>
                <a:latin typeface="Aptos"/>
              </a:defRPr>
            </a:pPr>
            <a:r>
              <a:t>LSTM — experimental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3794760"/>
            <a:ext cx="4937760" cy="117957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232B34"/>
                </a:solidFill>
                <a:latin typeface="Aptos"/>
              </a:defRPr>
            </a:pPr>
            <a:r>
              <a:t>Several sequence-model variants were explored, but performance remained poor.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440680"/>
            <a:ext cx="10515600" cy="59436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400"/>
              </a:spcAft>
              <a:defRPr sz="1400" b="0" i="1">
                <a:solidFill>
                  <a:srgbClr val="5B6672"/>
                </a:solidFill>
                <a:latin typeface="Aptos"/>
              </a:defRPr>
            </a:pPr>
            <a:r>
              <a:t>The MLP is an additional feed-forward model; unlike an LSTM, it does not explicitly model temporal dependencies.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4572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400"/>
              </a:spcAft>
              <a:defRPr sz="2500" b="1" i="0">
                <a:solidFill>
                  <a:srgbClr val="192F4F"/>
                </a:solidFill>
                <a:latin typeface="Aptos"/>
              </a:defRPr>
            </a:pPr>
            <a:r>
              <a:t>Experimental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49808"/>
            <a:ext cx="1078992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400"/>
              </a:spcAft>
              <a:defRPr sz="1000" b="0" i="0">
                <a:solidFill>
                  <a:srgbClr val="5B6672"/>
                </a:solidFill>
                <a:latin typeface="Aptos"/>
              </a:defRPr>
            </a:pPr>
            <a:r>
              <a:t>Held-out test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914400" cy="45720"/>
          </a:xfrm>
          <a:prstGeom prst="rect">
            <a:avLst/>
          </a:prstGeom>
          <a:solidFill>
            <a:srgbClr val="29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38560" y="6510528"/>
            <a:ext cx="320040" cy="1645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spcAft>
                <a:spcPts val="400"/>
              </a:spcAft>
              <a:defRPr sz="800" b="0" i="0">
                <a:solidFill>
                  <a:srgbClr val="5B6672"/>
                </a:solidFill>
                <a:latin typeface="Aptos"/>
              </a:defRPr>
            </a:pPr>
            <a: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417320"/>
          <a:ext cx="10332719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Dataset</a:t>
                      </a:r>
                    </a:p>
                  </a:txBody>
                  <a:tcPr marL="73152" marR="73152" marT="27432" marB="27432" anchor="ctr">
                    <a:solidFill>
                      <a:srgbClr val="192F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Model</a:t>
                      </a:r>
                    </a:p>
                  </a:txBody>
                  <a:tcPr marL="73152" marR="73152" marT="27432" marB="27432" anchor="ctr">
                    <a:solidFill>
                      <a:srgbClr val="192F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Accuracy</a:t>
                      </a:r>
                    </a:p>
                  </a:txBody>
                  <a:tcPr marL="73152" marR="73152" marT="27432" marB="27432" anchor="ctr">
                    <a:solidFill>
                      <a:srgbClr val="192F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Macro F1</a:t>
                      </a:r>
                    </a:p>
                  </a:txBody>
                  <a:tcPr marL="73152" marR="73152" marT="27432" marB="27432" anchor="ctr">
                    <a:solidFill>
                      <a:srgbClr val="192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High-quality</a:t>
                      </a:r>
                    </a:p>
                  </a:txBody>
                  <a:tcPr marL="73152" marR="73152" marT="27432" marB="27432"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MLP</a:t>
                      </a:r>
                    </a:p>
                  </a:txBody>
                  <a:tcPr marL="73152" marR="73152" marT="27432" marB="27432"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96.49%</a:t>
                      </a:r>
                    </a:p>
                  </a:txBody>
                  <a:tcPr marL="73152" marR="73152" marT="27432" marB="27432"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96.55%</a:t>
                      </a:r>
                    </a:p>
                  </a:txBody>
                  <a:tcPr marL="73152" marR="73152" marT="27432" marB="27432" anchor="ctr"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High-quality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Logistic Regression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95.71%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95.67%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High-quality</a:t>
                      </a:r>
                    </a:p>
                  </a:txBody>
                  <a:tcPr marL="73152" marR="73152" marT="27432" marB="27432"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SVM (RBF)</a:t>
                      </a:r>
                    </a:p>
                  </a:txBody>
                  <a:tcPr marL="73152" marR="73152" marT="27432" marB="27432"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74.07%</a:t>
                      </a:r>
                    </a:p>
                  </a:txBody>
                  <a:tcPr marL="73152" marR="73152" marT="27432" marB="27432"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74.91%</a:t>
                      </a:r>
                    </a:p>
                  </a:txBody>
                  <a:tcPr marL="73152" marR="73152" marT="27432" marB="27432" anchor="ctr"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Low-quality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SVM (RBF)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64.14%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63.91%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Low-quality</a:t>
                      </a:r>
                    </a:p>
                  </a:txBody>
                  <a:tcPr marL="73152" marR="73152" marT="27432" marB="27432"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Logistic Regression</a:t>
                      </a:r>
                    </a:p>
                  </a:txBody>
                  <a:tcPr marL="73152" marR="73152" marT="27432" marB="27432"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46.92%</a:t>
                      </a:r>
                    </a:p>
                  </a:txBody>
                  <a:tcPr marL="73152" marR="73152" marT="27432" marB="27432"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46.38%</a:t>
                      </a:r>
                    </a:p>
                  </a:txBody>
                  <a:tcPr marL="73152" marR="73152" marT="27432" marB="27432" anchor="ctr"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914400" y="4572000"/>
            <a:ext cx="4846320" cy="914400"/>
          </a:xfrm>
          <a:prstGeom prst="roundRect">
            <a:avLst/>
          </a:prstGeom>
          <a:solidFill>
            <a:srgbClr val="F0F5FA"/>
          </a:solidFill>
          <a:ln>
            <a:solidFill>
              <a:srgbClr val="DD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14400" y="4572000"/>
            <a:ext cx="64008" cy="914400"/>
          </a:xfrm>
          <a:prstGeom prst="rect">
            <a:avLst/>
          </a:prstGeom>
          <a:solidFill>
            <a:srgbClr val="29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" y="4681728"/>
            <a:ext cx="457200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192F4F"/>
                </a:solidFill>
                <a:latin typeface="Aptos"/>
              </a:defRPr>
            </a:pPr>
            <a:r>
              <a:t>Best measured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5029200"/>
            <a:ext cx="4572000" cy="402335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232B34"/>
                </a:solidFill>
                <a:latin typeface="Aptos"/>
              </a:defRPr>
            </a:pPr>
            <a:r>
              <a:t>MLP on high-quality data: 96.49%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4572000"/>
            <a:ext cx="4846320" cy="914400"/>
          </a:xfrm>
          <a:prstGeom prst="roundRect">
            <a:avLst/>
          </a:prstGeom>
          <a:solidFill>
            <a:srgbClr val="F0F5FA"/>
          </a:solidFill>
          <a:ln>
            <a:solidFill>
              <a:srgbClr val="DD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0" y="4572000"/>
            <a:ext cx="64008" cy="914400"/>
          </a:xfrm>
          <a:prstGeom prst="rect">
            <a:avLst/>
          </a:prstGeom>
          <a:solidFill>
            <a:srgbClr val="2C6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73952" y="4681728"/>
            <a:ext cx="457200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192F4F"/>
                </a:solidFill>
                <a:latin typeface="Aptos"/>
              </a:defRPr>
            </a:pPr>
            <a:r>
              <a:t>Key comparison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5029200"/>
            <a:ext cx="4572000" cy="402335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232B34"/>
                </a:solidFill>
                <a:latin typeface="Aptos"/>
              </a:defRPr>
            </a:pPr>
            <a:r>
              <a:t>On low-quality data, SVM beat Logistic Regression.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806440"/>
            <a:ext cx="10332720" cy="3200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5B6672"/>
                </a:solidFill>
                <a:latin typeface="Aptos"/>
              </a:defRPr>
            </a:pPr>
            <a:r>
              <a:t>MLP macro precision: 97.19%  |  macro recall: 96.63%  |  evaluated on 513 test recordings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4572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400"/>
              </a:spcAft>
              <a:defRPr sz="2500" b="1" i="0">
                <a:solidFill>
                  <a:srgbClr val="192F4F"/>
                </a:solidFill>
                <a:latin typeface="Aptos"/>
              </a:defRPr>
            </a:pPr>
            <a:r>
              <a:t>Demo &amp; Relation to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49808"/>
            <a:ext cx="1078992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400"/>
              </a:spcAft>
              <a:defRPr sz="1000" b="0" i="0">
                <a:solidFill>
                  <a:srgbClr val="5B6672"/>
                </a:solidFill>
                <a:latin typeface="Aptos"/>
              </a:defRPr>
            </a:pPr>
            <a:r>
              <a:t>What the notebook demonstrates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914400" cy="45720"/>
          </a:xfrm>
          <a:prstGeom prst="rect">
            <a:avLst/>
          </a:prstGeom>
          <a:solidFill>
            <a:srgbClr val="29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38560" y="6510528"/>
            <a:ext cx="320040" cy="1645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spcAft>
                <a:spcPts val="400"/>
              </a:spcAft>
              <a:defRPr sz="800" b="0" i="0">
                <a:solidFill>
                  <a:srgbClr val="5B6672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1874519"/>
          </a:xfrm>
          <a:prstGeom prst="roundRect">
            <a:avLst/>
          </a:prstGeom>
          <a:solidFill>
            <a:srgbClr val="F0F5FA"/>
          </a:solidFill>
          <a:ln>
            <a:solidFill>
              <a:srgbClr val="DD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64008" cy="1874519"/>
          </a:xfrm>
          <a:prstGeom prst="rect">
            <a:avLst/>
          </a:prstGeom>
          <a:solidFill>
            <a:srgbClr val="29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572768"/>
            <a:ext cx="493776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192F4F"/>
                </a:solidFill>
                <a:latin typeface="Aptos"/>
              </a:defRPr>
            </a:pPr>
            <a:r>
              <a:t>Interactive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920240"/>
            <a:ext cx="4937760" cy="1362455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232B34"/>
                </a:solidFill>
                <a:latin typeface="Aptos"/>
              </a:defRPr>
            </a:pPr>
            <a:r>
              <a:t>Select an existing test recording → MLP predicts one of 95 labels → display actual label, prediction, and CORRECT/WRONG.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212080" cy="1874519"/>
          </a:xfrm>
          <a:prstGeom prst="roundRect">
            <a:avLst/>
          </a:prstGeom>
          <a:solidFill>
            <a:srgbClr val="F0F5FA"/>
          </a:solidFill>
          <a:ln>
            <a:solidFill>
              <a:srgbClr val="DD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463040"/>
            <a:ext cx="64008" cy="1874519"/>
          </a:xfrm>
          <a:prstGeom prst="rect">
            <a:avLst/>
          </a:prstGeom>
          <a:solidFill>
            <a:srgbClr val="2C6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82512" y="1572768"/>
            <a:ext cx="493776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192F4F"/>
                </a:solidFill>
                <a:latin typeface="Aptos"/>
              </a:defRPr>
            </a:pPr>
            <a:r>
              <a:t>Reference paper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1920240"/>
            <a:ext cx="4937760" cy="1362455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232B34"/>
                </a:solidFill>
                <a:latin typeface="Aptos"/>
              </a:defRPr>
            </a:pPr>
            <a:r>
              <a:t>Paper discusses Logistic Regression, SVM, LSTM and Sequential Pattern Mining (SPM). We implemented LR/SVM, explored LSTM and added MLP.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886200"/>
            <a:ext cx="10424160" cy="9144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192F4F"/>
                </a:solidFill>
                <a:latin typeface="Aptos"/>
              </a:defRPr>
            </a:pPr>
            <a:r>
              <a:t>A five-recording smoke test got 4/5 correct; this is not the overall accuracy. The full test-set accuracy is 96.49%.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074920"/>
            <a:ext cx="10424160" cy="6400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400"/>
              </a:spcAft>
              <a:defRPr sz="1400" b="1" i="0">
                <a:solidFill>
                  <a:srgbClr val="B04242"/>
                </a:solidFill>
                <a:latin typeface="Aptos"/>
              </a:defRPr>
            </a:pPr>
            <a:r>
              <a:t>This project is not an exact reproduction of every paper experiment; the datasets and experimental scope differ.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943600"/>
            <a:ext cx="1042416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400"/>
              </a:spcAft>
              <a:defRPr sz="900" b="0" i="0">
                <a:solidFill>
                  <a:srgbClr val="5B6672"/>
                </a:solidFill>
                <a:latin typeface="Aptos"/>
              </a:defRPr>
            </a:pPr>
            <a:r>
              <a:t>Reference: Cate, Dalvi &amp; Hussain, “Sign Language Recognition using Temporal Classification” — https://arxiv.org/abs/1701.01875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4572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400"/>
              </a:spcAft>
              <a:defRPr sz="2500" b="1" i="0">
                <a:solidFill>
                  <a:srgbClr val="192F4F"/>
                </a:solidFill>
                <a:latin typeface="Aptos"/>
              </a:defRPr>
            </a:pPr>
            <a:r>
              <a:t>Limitations, Conclusion &amp;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49808"/>
            <a:ext cx="1078992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400"/>
              </a:spcAft>
              <a:defRPr sz="1000" b="0" i="0">
                <a:solidFill>
                  <a:srgbClr val="5B6672"/>
                </a:solidFill>
                <a:latin typeface="Aptos"/>
              </a:defRPr>
            </a:pPr>
            <a:r>
              <a:t>Results and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914400" cy="45720"/>
          </a:xfrm>
          <a:prstGeom prst="rect">
            <a:avLst/>
          </a:prstGeom>
          <a:solidFill>
            <a:srgbClr val="29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38560" y="6510528"/>
            <a:ext cx="320040" cy="16459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spcAft>
                <a:spcPts val="400"/>
              </a:spcAft>
              <a:defRPr sz="800" b="0" i="0">
                <a:solidFill>
                  <a:srgbClr val="5B6672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212080" cy="2057400"/>
          </a:xfrm>
          <a:prstGeom prst="roundRect">
            <a:avLst/>
          </a:prstGeom>
          <a:solidFill>
            <a:srgbClr val="F0F5FA"/>
          </a:solidFill>
          <a:ln>
            <a:solidFill>
              <a:srgbClr val="DD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64008" cy="2057400"/>
          </a:xfrm>
          <a:prstGeom prst="rect">
            <a:avLst/>
          </a:prstGeom>
          <a:solidFill>
            <a:srgbClr val="B0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527048"/>
            <a:ext cx="493776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192F4F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874519"/>
            <a:ext cx="4937760" cy="154533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232B34"/>
                </a:solidFill>
                <a:latin typeface="Aptos"/>
              </a:defRPr>
            </a:pPr>
            <a:r>
              <a:t>• Recording-level, not signer-independent split</a:t>
            </a:r>
          </a:p>
          <a:p>
            <a:pPr algn="l">
              <a:spcAft>
                <a:spcPts val="400"/>
              </a:spcAft>
              <a:defRPr sz="1200" b="0" i="0">
                <a:solidFill>
                  <a:srgbClr val="232B34"/>
                </a:solidFill>
                <a:latin typeface="Aptos"/>
              </a:defRPr>
            </a:pPr>
            <a:r>
              <a:t>• MLP evaluated only on high-quality data</a:t>
            </a:r>
          </a:p>
          <a:p>
            <a:pPr algn="l">
              <a:spcAft>
                <a:spcPts val="400"/>
              </a:spcAft>
              <a:defRPr sz="1200" b="0" i="0">
                <a:solidFill>
                  <a:srgbClr val="232B34"/>
                </a:solidFill>
                <a:latin typeface="Aptos"/>
              </a:defRPr>
            </a:pPr>
            <a:r>
              <a:t>• LSTM performance was poor</a:t>
            </a:r>
          </a:p>
          <a:p>
            <a:pPr algn="l">
              <a:spcAft>
                <a:spcPts val="400"/>
              </a:spcAft>
              <a:defRPr sz="1200" b="0" i="0">
                <a:solidFill>
                  <a:srgbClr val="232B34"/>
                </a:solidFill>
                <a:latin typeface="Aptos"/>
              </a:defRPr>
            </a:pPr>
            <a:r>
              <a:t>• No significance testing or external test set</a:t>
            </a:r>
          </a:p>
          <a:p>
            <a:pPr algn="l">
              <a:spcAft>
                <a:spcPts val="400"/>
              </a:spcAft>
              <a:defRPr sz="1200" b="0" i="0">
                <a:solidFill>
                  <a:srgbClr val="232B34"/>
                </a:solidFill>
                <a:latin typeface="Aptos"/>
              </a:defRPr>
            </a:pPr>
            <a:r>
              <a:t>• Demo uses existing labelled recordings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17320"/>
            <a:ext cx="5212080" cy="2057400"/>
          </a:xfrm>
          <a:prstGeom prst="roundRect">
            <a:avLst/>
          </a:prstGeom>
          <a:solidFill>
            <a:srgbClr val="F0F5FA"/>
          </a:solidFill>
          <a:ln>
            <a:solidFill>
              <a:srgbClr val="DD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417320"/>
            <a:ext cx="64008" cy="2057400"/>
          </a:xfrm>
          <a:prstGeom prst="rect">
            <a:avLst/>
          </a:prstGeom>
          <a:solidFill>
            <a:srgbClr val="29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82512" y="1527048"/>
            <a:ext cx="493776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192F4F"/>
                </a:solidFill>
                <a:latin typeface="Aptos"/>
              </a:defRPr>
            </a:pPr>
            <a:r>
              <a:t>Conclusion &amp; future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1874519"/>
            <a:ext cx="4937760" cy="154533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232B34"/>
                </a:solidFill>
                <a:latin typeface="Aptos"/>
              </a:defRPr>
            </a:pPr>
            <a:r>
              <a:t>MLP performed best on high-quality data; SVM was stronger on low-quality data. Future work: unseen-signer evaluation, improve temporal models, test MLP on low-quality data, and explore live input.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86200"/>
            <a:ext cx="5212080" cy="1371600"/>
          </a:xfrm>
          <a:prstGeom prst="roundRect">
            <a:avLst/>
          </a:prstGeom>
          <a:solidFill>
            <a:srgbClr val="F0F5FA"/>
          </a:solidFill>
          <a:ln>
            <a:solidFill>
              <a:srgbClr val="DD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3886200"/>
            <a:ext cx="64008" cy="1371600"/>
          </a:xfrm>
          <a:prstGeom prst="rect">
            <a:avLst/>
          </a:prstGeom>
          <a:solidFill>
            <a:srgbClr val="2C6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6112" y="3995928"/>
            <a:ext cx="4937760" cy="34163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192F4F"/>
                </a:solidFill>
                <a:latin typeface="Aptos"/>
              </a:defRPr>
            </a:pPr>
            <a:r>
              <a:rPr dirty="0"/>
              <a:t>Team Member 1</a:t>
            </a:r>
            <a:r>
              <a:rPr lang="en-IN" dirty="0"/>
              <a:t> – Sanapala Venkata Maneesh </a:t>
            </a:r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896112" y="4343400"/>
            <a:ext cx="4937760" cy="310854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232B34"/>
                </a:solidFill>
                <a:latin typeface="Aptos"/>
              </a:defRPr>
            </a:pPr>
            <a:r>
              <a:rPr lang="en-IN" dirty="0"/>
              <a:t>PES1UG2AM247</a:t>
            </a:r>
            <a:endParaRPr dirty="0"/>
          </a:p>
        </p:txBody>
      </p:sp>
      <p:sp>
        <p:nvSpPr>
          <p:cNvPr id="18" name="Rounded Rectangle 17"/>
          <p:cNvSpPr/>
          <p:nvPr/>
        </p:nvSpPr>
        <p:spPr>
          <a:xfrm>
            <a:off x="6286500" y="3886200"/>
            <a:ext cx="5212080" cy="1371600"/>
          </a:xfrm>
          <a:prstGeom prst="roundRect">
            <a:avLst/>
          </a:prstGeom>
          <a:solidFill>
            <a:srgbClr val="F0F5FA"/>
          </a:solidFill>
          <a:ln>
            <a:solidFill>
              <a:srgbClr val="DD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3886200"/>
            <a:ext cx="64008" cy="1371600"/>
          </a:xfrm>
          <a:prstGeom prst="rect">
            <a:avLst/>
          </a:prstGeom>
          <a:solidFill>
            <a:srgbClr val="DDA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82512" y="3995928"/>
            <a:ext cx="4937760" cy="34163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192F4F"/>
                </a:solidFill>
                <a:latin typeface="Aptos"/>
              </a:defRPr>
            </a:pPr>
            <a:r>
              <a:rPr dirty="0"/>
              <a:t>Team Member 2 — </a:t>
            </a:r>
            <a:r>
              <a:rPr lang="en-IN" dirty="0"/>
              <a:t> Shristi Shukla </a:t>
            </a:r>
            <a:endParaRPr dirty="0"/>
          </a:p>
        </p:txBody>
      </p:sp>
      <p:sp>
        <p:nvSpPr>
          <p:cNvPr id="21" name="TextBox 20"/>
          <p:cNvSpPr txBox="1"/>
          <p:nvPr/>
        </p:nvSpPr>
        <p:spPr>
          <a:xfrm>
            <a:off x="6400800" y="4361729"/>
            <a:ext cx="4937760" cy="310854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232B34"/>
                </a:solidFill>
                <a:latin typeface="Aptos"/>
              </a:defRPr>
            </a:pPr>
            <a:r>
              <a:rPr lang="en-IN" dirty="0"/>
              <a:t>PES1UG24AM268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566</Words>
  <Application>Microsoft Office PowerPoint</Application>
  <PresentationFormat>Widescreen</PresentationFormat>
  <Paragraphs>102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Maneesh Sanapala</cp:lastModifiedBy>
  <cp:revision>2</cp:revision>
  <dcterms:created xsi:type="dcterms:W3CDTF">2013-01-27T09:14:16Z</dcterms:created>
  <dcterms:modified xsi:type="dcterms:W3CDTF">2026-10-14T15:21:22Z</dcterms:modified>
  <cp:category/>
</cp:coreProperties>
</file>